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05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457200" cy="6858000"/>
          </a:xfrm>
          <a:prstGeom prst="rect">
            <a:avLst/>
          </a:prstGeom>
          <a:solidFill>
            <a:srgbClr val="02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951B"/>
                </a:solidFill>
                <a:latin typeface="Calibri"/>
              </a:rPr>
              <a:t>NEXUS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4114800" cy="4572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One Platform. Open Source. Dharma-driven.
Blockchain-verified. Unbeatable.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Built on Hadoop   ·   Guided by the Gita   ·   Enforced by Six Sigma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D1B3E"/>
                </a:solidFill>
                <a:latin typeface="Calibri"/>
              </a:rPr>
              <a:t>INVESTOR DECK  — 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The data platform
AWS, GCP &amp; Azure
could never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1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Data engineering is broken —
and every company is paying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4572000" cy="36576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" y="1691640"/>
            <a:ext cx="54864" cy="411480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3E"/>
                </a:solidFill>
                <a:latin typeface="Calibri"/>
              </a:rPr>
              <a:t>12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The average enterprise runs 5–12 separate data tools from 3 different cloud vendors. Every tool is a different skill, a different contract, a different failure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691640"/>
            <a:ext cx="54864" cy="4114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3E"/>
                </a:solidFill>
                <a:latin typeface="Calibri"/>
              </a:rPr>
              <a:t>Zero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When data moves from source to dashboard, there is no cryptographic proof it was handled correctly. Compliance is manual, expensive, and impossible to audit instantly.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1691640"/>
            <a:ext cx="54864" cy="411480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288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3E"/>
                </a:solidFill>
                <a:latin typeface="Calibri"/>
              </a:rPr>
              <a:t>Total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146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AWS, GCP, and Azure were built on open-source Hadoop — then locked companies in. Leaving costs more than staying. That is not a service. That is a trap.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D1B3E"/>
                </a:solidFill>
                <a:latin typeface="Calibri"/>
              </a:rPr>
              <a:t>The global data integration market is $15B+ and growing. The pain is real. The gap is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1B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DataNexus — One platform,
built on the same DNA as 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AWS, GCP, and Azure took Apache Hadoop open-source, wrapped it in a UI, added billing, and charged 10× the cost. DataNexus takes the same foundation — and goes further than any of them imagined.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3611880" cy="150876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44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51B"/>
                </a:solidFill>
                <a:latin typeface="Calibri"/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44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Blockchain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6499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Hyperledger Fabric stamps every transformation. Tamper-proof. Auditable. Instant compliance.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834640"/>
            <a:ext cx="3611880" cy="150876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944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51B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944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Self-Healing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36499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Pipelines that diagnose failures, fix themselves, and page humans only when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834640"/>
            <a:ext cx="3611880" cy="150876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944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51B"/>
                </a:solidFill>
                <a:latin typeface="Calibri"/>
              </a:rPr>
              <a:t>🗣️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944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NLP in Any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36499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Ask your data questions in Telugu, Hindi, or English. No SQL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3611880" cy="150876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51B"/>
                </a:solidFill>
                <a:latin typeface="Calibri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36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Six Sigma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566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Every pipeline measured live. 3.4 defects per million. Blockchain-verified proof.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526280"/>
            <a:ext cx="3611880" cy="150876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636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51B"/>
                </a:solidFill>
                <a:latin typeface="Calibri"/>
              </a:rPr>
              <a:t>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636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Sovereignty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0566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Runs on your machines, in your nation, under your law. Zero cloud dependency.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526280"/>
            <a:ext cx="3611880" cy="150876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636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951B"/>
                </a:solidFill>
                <a:latin typeface="Calibri"/>
              </a:rPr>
              <a:t>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636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0566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Tokenized datasets. Smart-contract payments. Verified provenance for every buyer.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7517"/>
                </a:solidFill>
                <a:latin typeface="Calibri"/>
              </a:rPr>
              <a:t>THE UNBEATABLE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Three forces no competitor can copy.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033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703320" cy="73152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" y="1554480"/>
            <a:ext cx="548640" cy="548640"/>
          </a:xfrm>
          <a:prstGeom prst="ellipse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51B"/>
                </a:solidFill>
                <a:latin typeface="Calibri"/>
              </a:rPr>
              <a:t>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12 founding principles written in stone — publicly committed, blockchain-recorded, and legally enforceable.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Data belongs to its creator, always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Open source is non-negotiable, forever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Radical transparency in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Built for the welfare of all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7033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34440"/>
            <a:ext cx="3703320" cy="7315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07408" y="1554480"/>
            <a:ext cx="548640" cy="54864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A7517"/>
                </a:solidFill>
                <a:latin typeface="Calibri"/>
              </a:rPr>
              <a:t>BHAGAVAD GITA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Dharma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2860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Ancient wisdom that AWS, GCP, and Azure structurally cannot adopt — because it contradicts their business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Nishkama Karma: build for duty, not profit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Svadharma: every component knows its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89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Viveka: AI that separates signal from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Lokasangraha: hold the world together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234440"/>
            <a:ext cx="37033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234440"/>
            <a:ext cx="37033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7" y="1554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/>
              </a:rPr>
              <a:t>SIX SIGMA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Quality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2860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3.4 defects per million. Every pipeline measured, every sigma level visible, every guarantee blockchain-verified.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Define → Measure → Analyse → Improve →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Live sigma scores on every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389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5σ minimum SLA — contractual guarantee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▸  Blockchain proof of quality, always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D1B3E"/>
                </a:solidFill>
                <a:latin typeface="Calibri"/>
              </a:rPr>
              <a:t>The combination no Silicon Valley company has ever built — or can 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THE DNA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They took Hadoop and charged 10×.
We take Hadoop — and go beyond.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Apache 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51B"/>
                </a:solidFill>
                <a:latin typeface="Calibri"/>
              </a:rPr>
              <a:t>Cloud Giants Charged 10×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600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DataNexus Adds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74552" cy="621792"/>
          </a:xfrm>
          <a:prstGeom prst="rect">
            <a:avLst/>
          </a:prstGeom>
          <a:solidFill>
            <a:srgbClr val="05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  <a:latin typeface="Calibri"/>
              </a:rPr>
              <a:t>HDFS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21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S3 / GCS / ADLS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21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HDFS + Iceberg + IPFS content-hash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1274552" cy="621792"/>
          </a:xfrm>
          <a:prstGeom prst="rect">
            <a:avLst/>
          </a:prstGeom>
          <a:solidFill>
            <a:srgbClr val="07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07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  <a:latin typeface="Calibri"/>
              </a:rPr>
              <a:t>Apache 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072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Kinesis / Pub-Sub / Event Hubs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8072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Kafka + blockchain event stamp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1274552" cy="621792"/>
          </a:xfrm>
          <a:prstGeom prst="rect">
            <a:avLst/>
          </a:prstGeom>
          <a:solidFill>
            <a:srgbClr val="05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93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  <a:latin typeface="Calibri"/>
              </a:rPr>
              <a:t>Apache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4930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EMR / Dataproc / HDInsight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930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Spark + AI auto-optimizer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11274552" cy="621792"/>
          </a:xfrm>
          <a:prstGeom prst="rect">
            <a:avLst/>
          </a:prstGeom>
          <a:solidFill>
            <a:srgbClr val="07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78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  <a:latin typeface="Calibri"/>
              </a:rPr>
              <a:t>Hive + Presto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1788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Redshift / BigQuery / Synapse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1788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Presto + NLP query in any language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11274552" cy="621792"/>
          </a:xfrm>
          <a:prstGeom prst="rect">
            <a:avLst/>
          </a:prstGeom>
          <a:solidFill>
            <a:srgbClr val="052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646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  <a:latin typeface="Calibri"/>
              </a:rPr>
              <a:t>Apache Airflow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8646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MWAA / Composer / ADF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Airflow + self-healing AI plugin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40680"/>
            <a:ext cx="11274552" cy="621792"/>
          </a:xfrm>
          <a:prstGeom prst="rect">
            <a:avLst/>
          </a:prstGeom>
          <a:solidFill>
            <a:srgbClr val="07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50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  <a:latin typeface="Calibri"/>
              </a:rPr>
              <a:t>Atlas + Ranger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550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Lake Formation / Purview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550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Atlas + Hyperledger audit ledger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ADCFC"/>
                </a:solidFill>
                <a:latin typeface="Calibri"/>
              </a:rPr>
              <a:t>AWS, GCP, and Azure stopped at wrapping. DataNexus goes to blockchain lineage, NLP queries, and Six Sigma proof — territory they cannot 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"/>
              </a:rPr>
              <a:t>100% open source. 9-month build. All on Hadoop.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749808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10789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51B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2618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Kafka  ·  NiFi  ·  Sqoop  ·  Flume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8191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Replaces: Kinesis, Pub-Sub, Event Hubs, Glue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75688"/>
            <a:ext cx="73152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75688"/>
            <a:ext cx="10789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Calibri"/>
              </a:rPr>
              <a:t>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148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HDFS  ·  HBase  ·  Iceberg  ·  IPFS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6888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Replaces: S3, GCS, ADLS, Delta Lake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62656"/>
            <a:ext cx="73152" cy="74980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962656"/>
            <a:ext cx="10789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7517"/>
                </a:solidFill>
                <a:latin typeface="Calibri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0358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Spark  ·  Flink  ·  MapReduce  ·  YARN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5584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Replaces: EMR, Dataproc, HDInsight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73152" cy="74980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849624"/>
            <a:ext cx="10789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227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92277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Presto  ·  Hive  ·  Druid  ·  Superset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24281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Replaces: Redshift, BigQuery, Synapse, Tableau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36592"/>
            <a:ext cx="73152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36592"/>
            <a:ext cx="10789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097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GOVERN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80974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Atlas  ·  Ranger  ·  Great Expectations  ·  MLflow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129783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Replaces: Lake Formation, Purview, Collibra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23559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623559"/>
            <a:ext cx="107899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96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BLOCKCHAIN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6967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Hyperledger Fabric  ·  IPFS  ·  Smart Contracts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6016751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NEW — No cloud vendor offers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D1B3E"/>
                </a:solidFill>
                <a:latin typeface="Calibri"/>
              </a:rPr>
              <a:t>Phase 1–5 build: 9 months  ·  First pilot: Month 3  ·  Public beta: Month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markets no US cloud
can structurally serve.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611880" cy="347472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59669"/>
                </a:solidFill>
                <a:latin typeface="Calibri"/>
              </a:rPr>
              <a:t>$15B+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Global data
integration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Growing 13% per year. Every company runs 5–12 tools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611880" cy="347472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59669"/>
                </a:solidFill>
                <a:latin typeface="Calibri"/>
              </a:rPr>
              <a:t>₹10,000Cr+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786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India DPDP Act
compliance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73552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DPDP 2023 requires data sovereignty. AWS/GCP cannot comply by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3611880" cy="3474720"/>
          </a:xfrm>
          <a:prstGeom prst="rect">
            <a:avLst/>
          </a:prstGeom>
          <a:solidFill>
            <a:srgbClr val="05285C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59669"/>
                </a:solidFill>
                <a:latin typeface="Calibri"/>
              </a:rPr>
              <a:t>$3.2B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786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Global South
data sovereignty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73552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India, SE Asia, Middle East, Africa — all need on-premise, sovereign data platforms.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951B"/>
                </a:solidFill>
                <a:latin typeface="Calibri"/>
              </a:rPr>
              <a:t>Why now: DPDP Act 2023  ·  Hyperledger production-ready  ·  Open-source LLMs at zero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3611880" cy="914400"/>
          </a:xfrm>
          <a:prstGeom prst="rect">
            <a:avLst/>
          </a:prstGeom>
          <a:solidFill>
            <a:srgbClr val="07326E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33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1B"/>
                </a:solidFill>
                <a:latin typeface="Calibri"/>
              </a:rPr>
              <a:t>🏛️ DPDP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447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India's data law mandates on-premise — structural tailwind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5760720"/>
            <a:ext cx="3611880" cy="914400"/>
          </a:xfrm>
          <a:prstGeom prst="rect">
            <a:avLst/>
          </a:prstGeom>
          <a:solidFill>
            <a:srgbClr val="07326E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5833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1B"/>
                </a:solidFill>
                <a:latin typeface="Calibri"/>
              </a:rPr>
              <a:t>🔗 Blockchain Maturity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61447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Hyperledger Fabric is battle-tested in Indian banking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5760720"/>
            <a:ext cx="3611880" cy="914400"/>
          </a:xfrm>
          <a:prstGeom prst="rect">
            <a:avLst/>
          </a:prstGeom>
          <a:solidFill>
            <a:srgbClr val="07326E"/>
          </a:solidFill>
          <a:ln w="9525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5833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1B"/>
                </a:solidFill>
                <a:latin typeface="Calibri"/>
              </a:rPr>
              <a:t>🧠 AI Cost Collapse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614476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Open-source LLMs make NLP queries cost near zero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7517"/>
                </a:solidFill>
                <a:latin typeface="Calibri"/>
              </a:rP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  <a:latin typeface="Calibri"/>
              </a:rPr>
              <a:t>Three locks. No competitor can break any of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37033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3703320" cy="54864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27632"/>
            <a:ext cx="585216" cy="585216"/>
          </a:xfrm>
          <a:prstGeom prst="ellipse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733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1B"/>
                </a:solidFill>
                <a:latin typeface="Calibri"/>
              </a:rPr>
              <a:t>PHILOSOPHICAL 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195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The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3364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AWS cannot adopt a principle that says 'data belongs to its creator' — their business requires the opposite. Google cannot commit to 'build without data extraction' — advertising revenue depends on it. The Manifest creates a position no profit-driven competitor can occupy.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06440"/>
            <a:ext cx="3337560" cy="301752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15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1B"/>
                </a:solidFill>
                <a:latin typeface="Calibri"/>
              </a:rPr>
              <a:t>✓  Structural advantage — not copyable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70432"/>
            <a:ext cx="37033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70432"/>
            <a:ext cx="3703320" cy="54864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0" y="1627632"/>
            <a:ext cx="585216" cy="585216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6733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5087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A7517"/>
                </a:solidFill>
                <a:latin typeface="Calibri"/>
              </a:rPr>
              <a:t>CULTURAL 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90195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Dharma as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77440"/>
            <a:ext cx="3364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3.2 billion people across South Asia share the cultural foundation of the Gita. When DataNexus says 'we operate by Dharma,' it is not foreign philosophy — it is home. No Silicon Valley company can credibly make this claim. It cannot be purchased or manufactured.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806440"/>
            <a:ext cx="3337560" cy="301752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815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7517"/>
                </a:solidFill>
                <a:latin typeface="Calibri"/>
              </a:rPr>
              <a:t>✓  Geographic advantage — not replicable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170432"/>
            <a:ext cx="37033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170432"/>
            <a:ext cx="370332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162763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16733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50876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QUALITY 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190195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Blockchain-Verified Six Sigma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377440"/>
            <a:ext cx="33649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When DataNexus publishes live sigma scores for every pipeline — with Hyperledger Fabric cryptographic proof — and no competitor can produce an equivalent statement, the quality conversation ends. Verifiable, immutable quality is a standard we define.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5806440"/>
            <a:ext cx="3337560" cy="30175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815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✓  Technical advantage — 2-3 year lead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D1B3E"/>
                </a:solidFill>
                <a:latin typeface="Calibri"/>
              </a:rPr>
              <a:t>"DataNexus is the only data platform built on open-source freedom, Dharma as its principle, Six Sigma with blockchain proof."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1B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 months to public beta.
Industry shaken by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1554480"/>
            <a:ext cx="64008" cy="3474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39596" y="1764792"/>
            <a:ext cx="402336" cy="402336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M1–2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103120" cy="2743200"/>
          </a:xfrm>
          <a:prstGeom prst="rect">
            <a:avLst/>
          </a:prstGeom>
          <a:solidFill>
            <a:srgbClr val="05285C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Core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HDFS · Spark · Kafka · Airflow · Presto
Complete AWS EMR + Kinesis replacement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554480"/>
            <a:ext cx="64008" cy="347472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5596" y="1764792"/>
            <a:ext cx="402336" cy="402336"/>
          </a:xfrm>
          <a:prstGeom prst="ellipse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51B"/>
                </a:solidFill>
                <a:latin typeface="Calibri"/>
              </a:rPr>
              <a:t>M3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286000"/>
            <a:ext cx="2103120" cy="2743200"/>
          </a:xfrm>
          <a:prstGeom prst="rect">
            <a:avLst/>
          </a:prstGeom>
          <a:solidFill>
            <a:srgbClr val="05285C"/>
          </a:solidFill>
          <a:ln w="9525">
            <a:solidFill>
              <a:srgbClr val="FF9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Atlas · Ranger · Great Expectations
DPDP Act compliance: automatic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554480"/>
            <a:ext cx="64008" cy="347472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11596" y="1764792"/>
            <a:ext cx="402336" cy="402336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A7517"/>
                </a:solidFill>
                <a:latin typeface="Calibri"/>
              </a:rPr>
              <a:t>M4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286000"/>
            <a:ext cx="2103120" cy="2743200"/>
          </a:xfrm>
          <a:prstGeom prst="rect">
            <a:avLst/>
          </a:prstGeom>
          <a:solidFill>
            <a:srgbClr val="05285C"/>
          </a:solidFill>
          <a:ln w="9525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Blockchain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Hyperledger Fabric · IPFS · Chaincode
Every transformation: tamper-proof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554480"/>
            <a:ext cx="64008" cy="3474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7596" y="1764792"/>
            <a:ext cx="402336" cy="40233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M5–6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286000"/>
            <a:ext cx="2103120" cy="2743200"/>
          </a:xfrm>
          <a:prstGeom prst="rect">
            <a:avLst/>
          </a:prstGeom>
          <a:solidFill>
            <a:srgbClr val="05285C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+ NLP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LLM queries · MLflow · Self-healing DAGs
Data questions in Telugu, Hindi, English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52760" y="1554480"/>
            <a:ext cx="64008" cy="3474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83596" y="1764792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  <a:latin typeface="Calibri"/>
              </a:rPr>
              <a:t>M7–9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286000"/>
            <a:ext cx="2103120" cy="2743200"/>
          </a:xfrm>
          <a:prstGeom prst="rect">
            <a:avLst/>
          </a:prstGeom>
          <a:solidFill>
            <a:srgbClr val="05285C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UI + 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React console · Sigma dashboard · Beta
First 3 enterprise pilots signed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51B"/>
                </a:solidFill>
                <a:latin typeface="Calibri"/>
              </a:rPr>
              <a:t>Month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59612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First pilot
customer signed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51B"/>
                </a:solidFill>
                <a:latin typeface="Calibri"/>
              </a:rPr>
              <a:t>Month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59612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MVP at
5σ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51B"/>
                </a:solidFill>
                <a:latin typeface="Calibri"/>
              </a:rPr>
              <a:t>Month 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59612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Public beta
launched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51B"/>
                </a:solidFill>
                <a:latin typeface="Calibri"/>
              </a:rPr>
              <a:t>Month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59612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10 enterprises
operational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11480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09560" y="13716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JOIN THE
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356616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D1B3E"/>
                </a:solidFill>
                <a:latin typeface="Calibri"/>
              </a:rPr>
              <a:t>Proceed.
Build.
Shake
the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51B"/>
                </a:solidFill>
                <a:latin typeface="Calibri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Seed Round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4114800" cy="36576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6858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64008" cy="96012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3E"/>
                </a:solidFill>
                <a:latin typeface="Calibri"/>
              </a:rPr>
              <a:t>₹5 Crore / $600K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Seed funding 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858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64008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3E"/>
                </a:solidFill>
                <a:latin typeface="Calibri"/>
              </a:rPr>
              <a:t>9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632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To public beta 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6858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64008" cy="960120"/>
          </a:xfrm>
          <a:prstGeom prst="rect">
            <a:avLst/>
          </a:prstGeom>
          <a:solidFill>
            <a:srgbClr val="FF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3E"/>
                </a:solidFill>
                <a:latin typeface="Calibri"/>
              </a:rPr>
              <a:t>5 engineers + 2 GTM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Founding team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79"/>
            <a:ext cx="6858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79"/>
            <a:ext cx="64008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463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3E"/>
                </a:solidFill>
                <a:latin typeface="Calibri"/>
              </a:rPr>
              <a:t>3 pilot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5779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Signed within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Use of funds: 60% engineering  ·  20% infrastructure  ·  20% GTM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1B"/>
                </a:solidFill>
                <a:latin typeface="Calibri"/>
              </a:rPr>
              <a:t>datanexus.io  ·  hello@datanexus.io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